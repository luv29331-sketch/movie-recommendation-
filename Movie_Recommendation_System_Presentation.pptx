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Movie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D2D7E6"/>
                </a:solidFill>
              </a:defRPr>
            </a:pPr>
            <a:r>
              <a:t>Content-Based Recommendation using TF-IDF &amp; Cosine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1B446"/>
                </a:solidFill>
              </a:defRPr>
            </a:pPr>
            <a: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C2D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62D"/>
                </a:solidFill>
              </a:defRPr>
            </a:pPr>
            <a:r>
              <a:t>Movie platforms contain thousands of titles, making it difficult for users to discover relevant movies.</a:t>
            </a:r>
          </a:p>
          <a:p>
            <a:pPr>
              <a:spcAft>
                <a:spcPts val="1200"/>
              </a:spcAft>
              <a:defRPr sz="1900" b="0">
                <a:solidFill>
                  <a:srgbClr val="23262D"/>
                </a:solidFill>
              </a:defRPr>
            </a:pPr>
            <a:r>
              <a:t>A recommendation system reduces this choice overload by suggesting movies similar to a selected title.</a:t>
            </a:r>
          </a:p>
          <a:p>
            <a:pPr>
              <a:spcAft>
                <a:spcPts val="1200"/>
              </a:spcAft>
              <a:defRPr sz="1900" b="0">
                <a:solidFill>
                  <a:srgbClr val="23262D"/>
                </a:solidFill>
              </a:defRPr>
            </a:pPr>
            <a:r>
              <a:t>This project implements a content-based movie recommender using information contained in movie metadata.</a:t>
            </a:r>
          </a:p>
          <a:p>
            <a:pPr>
              <a:spcAft>
                <a:spcPts val="1200"/>
              </a:spcAft>
              <a:defRPr sz="1900" b="0">
                <a:solidFill>
                  <a:srgbClr val="23262D"/>
                </a:solidFill>
              </a:defRPr>
            </a:pPr>
            <a:r>
              <a:t>The system recommends movies based on similarity of genres, keywords, tagline, cast and director.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C2D"/>
                </a:solidFill>
              </a:defRPr>
            </a:pPr>
            <a:r>
              <a:t>2. Problem Statement &amp;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4937759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C46A0"/>
                </a:solidFill>
              </a:defRPr>
            </a:pPr>
            <a:r>
              <a:t>Problem Statement</a:t>
            </a:r>
          </a:p>
          <a:p>
            <a:pPr>
              <a:spcBef>
                <a:spcPts val="700"/>
              </a:spcBef>
              <a:defRPr sz="1300">
                <a:solidFill>
                  <a:srgbClr val="23262D"/>
                </a:solidFill>
              </a:defRPr>
            </a:pPr>
            <a:r>
              <a:t>Users may know one movie they like but may not know which other movies have similar content. The goal is to build a simple system that can identify and recommend similar movies from a movie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627632"/>
            <a:ext cx="4937759" cy="3977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C46A0"/>
                </a:solidFill>
              </a:defRPr>
            </a:pPr>
            <a:r>
              <a:t>Objectives</a:t>
            </a:r>
          </a:p>
          <a:p>
            <a:pPr>
              <a:spcBef>
                <a:spcPts val="700"/>
              </a:spcBef>
              <a:defRPr sz="1300">
                <a:solidFill>
                  <a:srgbClr val="23262D"/>
                </a:solidFill>
              </a:defRPr>
            </a:pPr>
            <a:r>
              <a:t>• Prepare and clean movie metadata</a:t>
            </a:r>
            <a:br/>
            <a:r>
              <a:t>• Combine meaningful content features</a:t>
            </a:r>
            <a:br/>
            <a:r>
              <a:t>• Convert text into numerical vectors using TF-IDF</a:t>
            </a:r>
            <a:br/>
            <a:r>
              <a:t>• Measure similarity with cosine similarity</a:t>
            </a:r>
            <a:br/>
            <a:r>
              <a:t>• Return the most similar movie titles for a user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C2D"/>
                </a:solidFill>
              </a:defRPr>
            </a:pPr>
            <a:r>
              <a:t>3. Dataset &amp;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30175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C46A0"/>
                </a:solidFill>
              </a:defRPr>
            </a:pPr>
            <a:r>
              <a:t>Dataset</a:t>
            </a:r>
          </a:p>
          <a:p>
            <a:pPr>
              <a:spcBef>
                <a:spcPts val="700"/>
              </a:spcBef>
              <a:defRPr sz="1300">
                <a:solidFill>
                  <a:srgbClr val="23262D"/>
                </a:solidFill>
              </a:defRPr>
            </a:pPr>
            <a:r>
              <a:t>4,803 movie records</a:t>
            </a:r>
            <a:br/>
            <a:r>
              <a:t>24 columns in the original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81912"/>
            <a:ext cx="30175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C46A0"/>
                </a:solidFill>
              </a:defRPr>
            </a:pPr>
            <a:r>
              <a:t>Selected Features</a:t>
            </a:r>
          </a:p>
          <a:p>
            <a:pPr>
              <a:spcBef>
                <a:spcPts val="700"/>
              </a:spcBef>
              <a:defRPr sz="1300">
                <a:solidFill>
                  <a:srgbClr val="23262D"/>
                </a:solidFill>
              </a:defRPr>
            </a:pPr>
            <a:r>
              <a:t>genres</a:t>
            </a:r>
            <a:br/>
            <a:r>
              <a:t>keywords</a:t>
            </a:r>
            <a:br/>
            <a:r>
              <a:t>tagline</a:t>
            </a:r>
            <a:br/>
            <a:r>
              <a:t>cast</a:t>
            </a:r>
            <a:br/>
            <a:r>
              <a:t>director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581912"/>
            <a:ext cx="30175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C46A0"/>
                </a:solidFill>
              </a:defRPr>
            </a:pPr>
            <a:r>
              <a:t>Preprocessing</a:t>
            </a:r>
          </a:p>
          <a:p>
            <a:pPr>
              <a:spcBef>
                <a:spcPts val="700"/>
              </a:spcBef>
              <a:defRPr sz="1300">
                <a:solidFill>
                  <a:srgbClr val="23262D"/>
                </a:solidFill>
              </a:defRPr>
            </a:pPr>
            <a:r>
              <a:t>Missing values in selected features are replaced with empty strings.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62D"/>
                </a:solidFill>
              </a:defRPr>
            </a:pPr>
            <a:r>
              <a:t>A combined text feature is created by concatenating the selected metadata fields.</a:t>
            </a:r>
          </a:p>
          <a:p>
            <a:pPr>
              <a:spcAft>
                <a:spcPts val="1200"/>
              </a:spcAft>
              <a:defRPr sz="1800" b="0">
                <a:solidFill>
                  <a:srgbClr val="23262D"/>
                </a:solidFill>
              </a:defRPr>
            </a:pPr>
            <a:r>
              <a:t>Movie titles are retained for matching the user's input with the dataset.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4.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End-to-end recommendation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554480"/>
            <a:ext cx="594360" cy="594360"/>
          </a:xfrm>
          <a:prstGeom prst="ellipse">
            <a:avLst/>
          </a:prstGeom>
          <a:solidFill>
            <a:srgbClr val="5C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536192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Load data</a:t>
            </a:r>
          </a:p>
          <a:p>
            <a:pPr>
              <a:defRPr sz="1200">
                <a:solidFill>
                  <a:srgbClr val="CDD2E1"/>
                </a:solidFill>
              </a:defRPr>
            </a:pPr>
            <a:r>
              <a:t>Read movie dataset</a:t>
            </a:r>
          </a:p>
        </p:txBody>
      </p:sp>
      <p:sp>
        <p:nvSpPr>
          <p:cNvPr id="8" name="Oval 7"/>
          <p:cNvSpPr/>
          <p:nvPr/>
        </p:nvSpPr>
        <p:spPr>
          <a:xfrm>
            <a:off x="4389120" y="1554480"/>
            <a:ext cx="594360" cy="594360"/>
          </a:xfrm>
          <a:prstGeom prst="ellipse">
            <a:avLst/>
          </a:prstGeom>
          <a:solidFill>
            <a:srgbClr val="5C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2763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8928" y="1536192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Clean data</a:t>
            </a:r>
          </a:p>
          <a:p>
            <a:pPr>
              <a:defRPr sz="1200">
                <a:solidFill>
                  <a:srgbClr val="CDD2E1"/>
                </a:solidFill>
              </a:defRPr>
            </a:pPr>
            <a:r>
              <a:t>Handle missing values</a:t>
            </a:r>
          </a:p>
        </p:txBody>
      </p:sp>
      <p:sp>
        <p:nvSpPr>
          <p:cNvPr id="11" name="Oval 10"/>
          <p:cNvSpPr/>
          <p:nvPr/>
        </p:nvSpPr>
        <p:spPr>
          <a:xfrm>
            <a:off x="8183880" y="1554480"/>
            <a:ext cx="594360" cy="594360"/>
          </a:xfrm>
          <a:prstGeom prst="ellipse">
            <a:avLst/>
          </a:prstGeom>
          <a:solidFill>
            <a:srgbClr val="5C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62763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3688" y="1536192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Combine features</a:t>
            </a:r>
          </a:p>
          <a:p>
            <a:pPr>
              <a:defRPr sz="1200">
                <a:solidFill>
                  <a:srgbClr val="CDD2E1"/>
                </a:solidFill>
              </a:defRPr>
            </a:pPr>
            <a:r>
              <a:t>Create content representation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611880"/>
            <a:ext cx="594360" cy="594360"/>
          </a:xfrm>
          <a:prstGeom prst="ellipse">
            <a:avLst/>
          </a:prstGeom>
          <a:solidFill>
            <a:srgbClr val="5C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8503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593592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TF-IDF</a:t>
            </a:r>
          </a:p>
          <a:p>
            <a:pPr>
              <a:defRPr sz="1200">
                <a:solidFill>
                  <a:srgbClr val="CDD2E1"/>
                </a:solidFill>
              </a:defRPr>
            </a:pPr>
            <a:r>
              <a:t>Convert text to vectors</a:t>
            </a:r>
          </a:p>
        </p:txBody>
      </p:sp>
      <p:sp>
        <p:nvSpPr>
          <p:cNvPr id="17" name="Oval 16"/>
          <p:cNvSpPr/>
          <p:nvPr/>
        </p:nvSpPr>
        <p:spPr>
          <a:xfrm>
            <a:off x="4389120" y="3611880"/>
            <a:ext cx="594360" cy="594360"/>
          </a:xfrm>
          <a:prstGeom prst="ellipse">
            <a:avLst/>
          </a:prstGeom>
          <a:solidFill>
            <a:srgbClr val="5C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68503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3593592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Cosine similarity</a:t>
            </a:r>
          </a:p>
          <a:p>
            <a:pPr>
              <a:defRPr sz="1200">
                <a:solidFill>
                  <a:srgbClr val="CDD2E1"/>
                </a:solidFill>
              </a:defRPr>
            </a:pPr>
            <a:r>
              <a:t>Compare all movies</a:t>
            </a:r>
          </a:p>
        </p:txBody>
      </p:sp>
      <p:sp>
        <p:nvSpPr>
          <p:cNvPr id="20" name="Oval 19"/>
          <p:cNvSpPr/>
          <p:nvPr/>
        </p:nvSpPr>
        <p:spPr>
          <a:xfrm>
            <a:off x="8183880" y="3611880"/>
            <a:ext cx="594360" cy="594360"/>
          </a:xfrm>
          <a:prstGeom prst="ellipse">
            <a:avLst/>
          </a:prstGeom>
          <a:solidFill>
            <a:srgbClr val="5C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3685032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3688" y="3593592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Recommend</a:t>
            </a:r>
          </a:p>
          <a:p>
            <a:pPr>
              <a:defRPr sz="1200">
                <a:solidFill>
                  <a:srgbClr val="CDD2E1"/>
                </a:solidFill>
              </a:defRPr>
            </a:pPr>
            <a:r>
              <a:t>Rank similar titles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C2D"/>
                </a:solidFill>
              </a:defRPr>
            </a:pPr>
            <a:r>
              <a:t>5. TF-IDF Vectorization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23262D"/>
                </a:solidFill>
              </a:defRPr>
            </a:pPr>
            <a:r>
              <a:t>TF-IDF (Term Frequency–Inverse Document Frequency) represents text numerically.</a:t>
            </a:r>
          </a:p>
          <a:p>
            <a:pPr>
              <a:spcAft>
                <a:spcPts val="1200"/>
              </a:spcAft>
              <a:defRPr sz="1900" b="0">
                <a:solidFill>
                  <a:srgbClr val="23262D"/>
                </a:solidFill>
              </a:defRPr>
            </a:pPr>
            <a:r>
              <a:t>Terms that are frequent in a movie description but less common across the dataset receive greater importance.</a:t>
            </a:r>
          </a:p>
          <a:p>
            <a:pPr>
              <a:spcAft>
                <a:spcPts val="1200"/>
              </a:spcAft>
              <a:defRPr sz="1900" b="0">
                <a:solidFill>
                  <a:srgbClr val="23262D"/>
                </a:solidFill>
              </a:defRPr>
            </a:pPr>
            <a:r>
              <a:t>The selected metadata fields are transformed into a high-dimensional feature matrix.</a:t>
            </a:r>
          </a:p>
          <a:p>
            <a:pPr>
              <a:spcAft>
                <a:spcPts val="1200"/>
              </a:spcAft>
              <a:defRPr sz="1900" b="0">
                <a:solidFill>
                  <a:srgbClr val="23262D"/>
                </a:solidFill>
              </a:defRPr>
            </a:pPr>
            <a:r>
              <a:t>This representation allows the system to compare movie content mathematically.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4983480"/>
            <a:ext cx="96012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148072"/>
            <a:ext cx="9052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5C46A0"/>
                </a:solidFill>
              </a:defRPr>
            </a:pPr>
            <a:r>
              <a:t>TF-IDF = TF(term, document) × IDF(term)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C2D"/>
                </a:solidFill>
              </a:defRPr>
            </a:pPr>
            <a:r>
              <a:t>6. Cosine Similarity &amp;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73351"/>
            <a:ext cx="484632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C46A0"/>
                </a:solidFill>
              </a:defRPr>
            </a:pPr>
            <a:r>
              <a:t>Cosine Similarity</a:t>
            </a:r>
          </a:p>
          <a:p>
            <a:pPr>
              <a:spcBef>
                <a:spcPts val="700"/>
              </a:spcBef>
              <a:defRPr sz="1300">
                <a:solidFill>
                  <a:srgbClr val="23262D"/>
                </a:solidFill>
              </a:defRPr>
            </a:pPr>
            <a:r>
              <a:t>The project computes similarity between movie vectors using cosine similarity. A higher similarity score indicates that two movies have more similar content representations.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73351"/>
            <a:ext cx="4846320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C46A0"/>
                </a:solidFill>
              </a:defRPr>
            </a:pPr>
            <a:r>
              <a:t>Recommendation Logic</a:t>
            </a:r>
          </a:p>
          <a:p>
            <a:pPr>
              <a:spcBef>
                <a:spcPts val="700"/>
              </a:spcBef>
              <a:defRPr sz="1300">
                <a:solidFill>
                  <a:srgbClr val="23262D"/>
                </a:solidFill>
              </a:defRPr>
            </a:pPr>
            <a:r>
              <a:t>1. User enters a movie title.</a:t>
            </a:r>
            <a:br/>
            <a:r>
              <a:t>2. The title is matched against the movie list.</a:t>
            </a:r>
            <a:br/>
            <a:r>
              <a:t>3. The corresponding similarity scores are retrieved.</a:t>
            </a:r>
            <a:br/>
            <a:r>
              <a:t>4. Movies are sorted by similarity.</a:t>
            </a:r>
            <a:br/>
            <a:r>
              <a:t>5. The highest-ranked titles are displayed as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C2D"/>
                </a:solidFill>
              </a:defRPr>
            </a:pPr>
            <a:r>
              <a:t>7.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62D"/>
                </a:solidFill>
              </a:defRPr>
            </a:pPr>
            <a:r>
              <a:t>Python is used as the implementation language.</a:t>
            </a:r>
          </a:p>
          <a:p>
            <a:pPr>
              <a:spcAft>
                <a:spcPts val="1200"/>
              </a:spcAft>
              <a:defRPr sz="1800" b="0">
                <a:solidFill>
                  <a:srgbClr val="23262D"/>
                </a:solidFill>
              </a:defRPr>
            </a:pPr>
            <a:r>
              <a:t>Pandas and NumPy support data processing and numerical operations.</a:t>
            </a:r>
          </a:p>
          <a:p>
            <a:pPr>
              <a:spcAft>
                <a:spcPts val="1200"/>
              </a:spcAft>
              <a:defRPr sz="1800" b="0">
                <a:solidFill>
                  <a:srgbClr val="23262D"/>
                </a:solidFill>
              </a:defRPr>
            </a:pPr>
            <a:r>
              <a:t>scikit-learn provides TfidfVectorizer and cosine_similarity.</a:t>
            </a:r>
          </a:p>
          <a:p>
            <a:pPr>
              <a:spcAft>
                <a:spcPts val="1200"/>
              </a:spcAft>
              <a:defRPr sz="1800" b="0">
                <a:solidFill>
                  <a:srgbClr val="23262D"/>
                </a:solidFill>
              </a:defRPr>
            </a:pPr>
            <a:r>
              <a:t>difflib is used to help match the user's entered movie title with available titles.</a:t>
            </a:r>
          </a:p>
          <a:p>
            <a:pPr>
              <a:spcAft>
                <a:spcPts val="1200"/>
              </a:spcAft>
              <a:defRPr sz="1800" b="0">
                <a:solidFill>
                  <a:srgbClr val="23262D"/>
                </a:solidFill>
              </a:defRPr>
            </a:pPr>
            <a:r>
              <a:t>The notebook demonstrates the recommendation query using the input: “iron man”.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C2D"/>
                </a:solidFill>
              </a:defRPr>
            </a:pPr>
            <a:r>
              <a:t>8.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5C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C46A0"/>
                </a:solidFill>
              </a:defRPr>
            </a:pPr>
            <a:r>
              <a:t>Movie Dataset</a:t>
            </a:r>
          </a:p>
          <a:p>
            <a:pPr algn="ctr">
              <a:defRPr sz="1000">
                <a:solidFill>
                  <a:srgbClr val="696E78"/>
                </a:solidFill>
              </a:defRPr>
            </a:pPr>
            <a:r>
              <a:t>CSV metadata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82880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5C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965960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C46A0"/>
                </a:solidFill>
              </a:defRPr>
            </a:pPr>
            <a:r>
              <a:t>Preprocessing</a:t>
            </a:r>
          </a:p>
          <a:p>
            <a:pPr algn="ctr">
              <a:defRPr sz="1000">
                <a:solidFill>
                  <a:srgbClr val="696E78"/>
                </a:solidFill>
              </a:defRPr>
            </a:pPr>
            <a:r>
              <a:t>Selected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82880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5C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965960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C46A0"/>
                </a:solidFill>
              </a:defRPr>
            </a:pPr>
            <a:r>
              <a:t>Feature Engineering</a:t>
            </a:r>
          </a:p>
          <a:p>
            <a:pPr algn="ctr">
              <a:defRPr sz="1000">
                <a:solidFill>
                  <a:srgbClr val="696E78"/>
                </a:solidFill>
              </a:defRPr>
            </a:pPr>
            <a:r>
              <a:t>Combined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880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5C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59" y="1965960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C46A0"/>
                </a:solidFill>
              </a:defRPr>
            </a:pPr>
            <a:r>
              <a:t>TF-IDF</a:t>
            </a:r>
          </a:p>
          <a:p>
            <a:pPr algn="ctr">
              <a:defRPr sz="1000">
                <a:solidFill>
                  <a:srgbClr val="696E78"/>
                </a:solidFill>
              </a:defRPr>
            </a:pPr>
            <a:r>
              <a:t>Vector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82880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5C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19" y="1965960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C46A0"/>
                </a:solidFill>
              </a:defRPr>
            </a:pPr>
            <a:r>
              <a:t>Similarity</a:t>
            </a:r>
          </a:p>
          <a:p>
            <a:pPr algn="ctr">
              <a:defRPr sz="1000">
                <a:solidFill>
                  <a:srgbClr val="696E78"/>
                </a:solidFill>
              </a:defRPr>
            </a:pPr>
            <a:r>
              <a:t>Cosine scores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20624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5C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4343400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C46A0"/>
                </a:solidFill>
              </a:defRPr>
            </a:pPr>
            <a:r>
              <a:t>User Query</a:t>
            </a:r>
          </a:p>
          <a:p>
            <a:pPr algn="ctr">
              <a:defRPr sz="1000">
                <a:solidFill>
                  <a:srgbClr val="696E78"/>
                </a:solidFill>
              </a:defRPr>
            </a:pPr>
            <a:r>
              <a:t>Movie title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06240"/>
            <a:ext cx="1828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5C4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343400"/>
            <a:ext cx="1645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5C46A0"/>
                </a:solidFill>
              </a:defRPr>
            </a:pPr>
            <a:r>
              <a:t>Output</a:t>
            </a:r>
          </a:p>
          <a:p>
            <a:pPr algn="ctr">
              <a:defRPr sz="1000">
                <a:solidFill>
                  <a:srgbClr val="696E78"/>
                </a:solidFill>
              </a:defRPr>
            </a:pPr>
            <a:r>
              <a:t>Similar movies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313432"/>
            <a:ext cx="365759" cy="36576"/>
          </a:xfrm>
          <a:prstGeom prst="rect">
            <a:avLst/>
          </a:prstGeom>
          <a:solidFill>
            <a:srgbClr val="5C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313432"/>
            <a:ext cx="365760" cy="36576"/>
          </a:xfrm>
          <a:prstGeom prst="rect">
            <a:avLst/>
          </a:prstGeom>
          <a:solidFill>
            <a:srgbClr val="5C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0" y="2313432"/>
            <a:ext cx="365759" cy="36576"/>
          </a:xfrm>
          <a:prstGeom prst="rect">
            <a:avLst/>
          </a:prstGeom>
          <a:solidFill>
            <a:srgbClr val="5C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2313432"/>
            <a:ext cx="365759" cy="36576"/>
          </a:xfrm>
          <a:prstGeom prst="rect">
            <a:avLst/>
          </a:prstGeom>
          <a:solidFill>
            <a:srgbClr val="5C4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C2D"/>
                </a:solidFill>
              </a:defRPr>
            </a:pPr>
            <a:r>
              <a:t>9. Results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23262D"/>
                </a:solidFill>
              </a:defRPr>
            </a:pPr>
            <a:r>
              <a:t>The system successfully builds a content-based similarity model over 4,803 movies.</a:t>
            </a:r>
          </a:p>
          <a:p>
            <a:pPr>
              <a:spcAft>
                <a:spcPts val="1200"/>
              </a:spcAft>
              <a:defRPr sz="1800" b="0">
                <a:solidFill>
                  <a:srgbClr val="23262D"/>
                </a:solidFill>
              </a:defRPr>
            </a:pPr>
            <a:r>
              <a:t>For a selected movie, the similarity matrix provides a ranked list of related titles.</a:t>
            </a:r>
          </a:p>
          <a:p>
            <a:pPr>
              <a:spcAft>
                <a:spcPts val="1200"/>
              </a:spcAft>
              <a:defRPr sz="1800" b="0">
                <a:solidFill>
                  <a:srgbClr val="23262D"/>
                </a:solidFill>
              </a:defRPr>
            </a:pPr>
            <a:r>
              <a:t>The approach is explainable: recommendations are driven by shared metadata rather than hidden user preferences.</a:t>
            </a:r>
          </a:p>
          <a:p>
            <a:pPr>
              <a:spcAft>
                <a:spcPts val="1200"/>
              </a:spcAft>
              <a:defRPr sz="1800" b="0">
                <a:solidFill>
                  <a:srgbClr val="23262D"/>
                </a:solidFill>
              </a:defRPr>
            </a:pPr>
            <a:r>
              <a:t>The demonstrated query “iron man” shows how a user can receive similar movie suggestions from the dataset.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92040"/>
            <a:ext cx="102412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056631"/>
            <a:ext cx="98755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C46A0"/>
                </a:solidFill>
              </a:defRPr>
            </a:pPr>
            <a:r>
              <a:t>Key Finding</a:t>
            </a:r>
          </a:p>
          <a:p>
            <a:pPr>
              <a:spcBef>
                <a:spcPts val="700"/>
              </a:spcBef>
              <a:defRPr sz="1300">
                <a:solidFill>
                  <a:srgbClr val="23262D"/>
                </a:solidFill>
              </a:defRPr>
            </a:pPr>
            <a:r>
              <a:t>Content similarity provides a straightforward baseline recommender when user-rating history is unavailable.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1C2D"/>
                </a:solidFill>
              </a:defRPr>
            </a:pPr>
            <a:r>
              <a:t>10. Advantages, Limitations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329184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C46A0"/>
                </a:solidFill>
              </a:defRPr>
            </a:pPr>
            <a:r>
              <a:t>Advantages</a:t>
            </a:r>
          </a:p>
          <a:p>
            <a:pPr>
              <a:spcBef>
                <a:spcPts val="700"/>
              </a:spcBef>
              <a:defRPr sz="1300">
                <a:solidFill>
                  <a:srgbClr val="23262D"/>
                </a:solidFill>
              </a:defRPr>
            </a:pPr>
            <a:r>
              <a:t>• Simple and understandable</a:t>
            </a:r>
            <a:br/>
            <a:r>
              <a:t>• Does not require user ratings</a:t>
            </a:r>
            <a:br/>
            <a:r>
              <a:t>• Uses movie metadata directly</a:t>
            </a:r>
            <a:br/>
            <a:r>
              <a:t>• Easy to implement with Python</a:t>
            </a:r>
            <a:br/>
            <a:r>
              <a:t>• Can recommend similar content quickly after similarity computation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9392" y="141732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62272" y="1581912"/>
            <a:ext cx="329184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C46A0"/>
                </a:solidFill>
              </a:defRPr>
            </a:pPr>
            <a:r>
              <a:t>Limitations</a:t>
            </a:r>
          </a:p>
          <a:p>
            <a:pPr>
              <a:spcBef>
                <a:spcPts val="700"/>
              </a:spcBef>
              <a:defRPr sz="1300">
                <a:solidFill>
                  <a:srgbClr val="23262D"/>
                </a:solidFill>
              </a:defRPr>
            </a:pPr>
            <a:r>
              <a:t>• Depends on quality and completeness of metadata</a:t>
            </a:r>
            <a:br/>
            <a:r>
              <a:t>• Does not model collaborative user behavior</a:t>
            </a:r>
            <a:br/>
            <a:r>
              <a:t>• May recommend items that are too similar</a:t>
            </a:r>
            <a:br/>
            <a:r>
              <a:t>• Similarity is limited to available content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41732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3" y="1581912"/>
            <a:ext cx="329184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5C46A0"/>
                </a:solidFill>
              </a:defRPr>
            </a:pPr>
            <a:r>
              <a:t>Future Scope</a:t>
            </a:r>
          </a:p>
          <a:p>
            <a:pPr>
              <a:spcBef>
                <a:spcPts val="700"/>
              </a:spcBef>
              <a:defRPr sz="1300">
                <a:solidFill>
                  <a:srgbClr val="23262D"/>
                </a:solidFill>
              </a:defRPr>
            </a:pPr>
            <a:r>
              <a:t>• Hybrid content + collaborative filtering</a:t>
            </a:r>
            <a:br/>
            <a:r>
              <a:t>• Add ratings and user profiles</a:t>
            </a:r>
            <a:br/>
            <a:r>
              <a:t>• Improve NLP/text preprocessing</a:t>
            </a:r>
            <a:br/>
            <a:r>
              <a:t>• Build a web or mobile interface</a:t>
            </a:r>
            <a:br/>
            <a:r>
              <a:t>• Deploy the recommender as an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</a:defRPr>
            </a:pPr>
            <a:r>
              <a:t>A complete content-based movie recommendation pipeline was implemented.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</a:defRPr>
            </a:pPr>
            <a:r>
              <a:t>Movie metadata is transformed with TF-IDF and compared using cosine similarity.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</a:defRPr>
            </a:pPr>
            <a:r>
              <a:t>The system can identify and rank movies similar to a user's selected title.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</a:defRPr>
            </a:pPr>
            <a:r>
              <a:t>The project demonstrates how machine learning and text processing can be combined to solve a practical recommendation problem.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</a:defRPr>
            </a:pPr>
            <a:r>
              <a:t>The same foundation can be extended into a production-ready hybrid recommendation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1B446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6E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